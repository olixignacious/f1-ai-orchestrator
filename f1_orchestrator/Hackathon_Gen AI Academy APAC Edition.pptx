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9144000" cy="5143500" type="screen16x9"/>
  <p:notesSz cx="6858000" cy="9144000"/>
  <p:embeddedFontLst>
    <p:embeddedFont>
      <p:font typeface="Google Sans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7"/>
    <p:restoredTop sz="94717"/>
  </p:normalViewPr>
  <p:slideViewPr>
    <p:cSldViewPr snapToGrid="0">
      <p:cViewPr varScale="1">
        <p:scale>
          <a:sx n="180" d="100"/>
          <a:sy n="180" d="100"/>
        </p:scale>
        <p:origin x="15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3651ae8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d3651ae8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651ae8d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d3651ae8d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 deck 1.png"/>
          <p:cNvPicPr preferRelativeResize="0"/>
          <p:nvPr/>
        </p:nvPicPr>
        <p:blipFill rotWithShape="1">
          <a:blip r:embed="rId3">
            <a:alphaModFix/>
          </a:blip>
          <a:srcRect b="45025"/>
          <a:stretch/>
        </p:blipFill>
        <p:spPr>
          <a:xfrm>
            <a:off x="0" y="0"/>
            <a:ext cx="9144000" cy="28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34679" y="2736563"/>
            <a:ext cx="9009322" cy="17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Participant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Participant </a:t>
            </a:r>
            <a:r>
              <a:rPr lang="en-GB" sz="1800" b="1" dirty="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N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ame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: Ashwini Sharma</a:t>
            </a:r>
            <a:endParaRPr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Problem Statement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Google Sans"/>
              </a:rPr>
              <a:t>: </a:t>
            </a:r>
            <a:r>
              <a:rPr lang="en-IN" sz="1600" dirty="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F1 fans, analysts, and team strategists lack a unified tool to query historical race data, </a:t>
            </a:r>
            <a:r>
              <a:rPr lang="en-IN" sz="1600" dirty="0" err="1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 live telemetry, simulate pit strategies, and validate racing incidents against FIA regulations. Existing solutions are fragmented across multiple platforms, require deep technical expertise, and offer no way to cross-reference race performance with steward decisions or regulatory precedent — making real-time strategic insight inaccessible to most.</a:t>
            </a:r>
            <a:endParaRPr sz="1600" dirty="0"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the idea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03595" y="84615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7F3F6-65CC-F84E-B261-E93DE392CAAB}"/>
              </a:ext>
            </a:extLst>
          </p:cNvPr>
          <p:cNvSpPr txBox="1"/>
          <p:nvPr/>
        </p:nvSpPr>
        <p:spPr>
          <a:xfrm>
            <a:off x="333360" y="1097180"/>
            <a:ext cx="8270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F1 AI Orchestrator (Virtual Pit Wall) is a high-performance, two-tier multi-agent AI system. It delivers professional-grade F1 race strategy, live telemetry analysis, FIA regulation lookups, and steward decision precedents — all through natural conversation.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456D8-09FE-D367-09C2-07E2E6E53027}"/>
              </a:ext>
            </a:extLst>
          </p:cNvPr>
          <p:cNvSpPr txBox="1"/>
          <p:nvPr/>
        </p:nvSpPr>
        <p:spPr>
          <a:xfrm>
            <a:off x="463125" y="3030657"/>
            <a:ext cx="81242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How it works:</a:t>
            </a:r>
          </a:p>
          <a:p>
            <a:endParaRPr lang="en-IN" dirty="0"/>
          </a:p>
          <a:p>
            <a:r>
              <a:rPr lang="en-IN" b="1" dirty="0"/>
              <a:t>Step 1 — </a:t>
            </a:r>
            <a:r>
              <a:rPr lang="en-IN" dirty="0"/>
              <a:t>You ask "Was the pit release at Bahrain 2024 legal, and how did it affect Verstappen's strategy?"</a:t>
            </a:r>
          </a:p>
          <a:p>
            <a:r>
              <a:rPr lang="en-IN" b="1" dirty="0"/>
              <a:t>Step 2 — </a:t>
            </a:r>
            <a:r>
              <a:rPr lang="en-IN" dirty="0"/>
              <a:t>Coordinator routes: Race Engineer sequences the Steward Agent (FIA RAG lookup) + Performance Analyst (telemetry + Monte Carlo sim) in one pass, sharing data via session state</a:t>
            </a:r>
          </a:p>
          <a:p>
            <a:r>
              <a:rPr lang="en-IN" b="1" dirty="0"/>
              <a:t>Step 3 —</a:t>
            </a:r>
            <a:r>
              <a:rPr lang="en-IN" dirty="0"/>
              <a:t> You get a report: Steward verdict · Regulation article cited · Pace delta · Tyre strategy simulation · Confidence score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698825" y="1296325"/>
            <a:ext cx="745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4FFB0-AA5A-7194-6988-2DF867AA9983}"/>
              </a:ext>
            </a:extLst>
          </p:cNvPr>
          <p:cNvSpPr txBox="1"/>
          <p:nvPr/>
        </p:nvSpPr>
        <p:spPr>
          <a:xfrm>
            <a:off x="381663" y="802532"/>
            <a:ext cx="73231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we translated the problem into a working solution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orchestration: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Two-tier hierarchy 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race_strategist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(Pit Wall Director) classifies every query as [SIMPLE] or [COMPLEX] and routes to f1_coordinator (Race Engineer), which sequences the right specialists and shares data via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ToolContext.state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eliminating redundant FastF1 fetches.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fabric: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stores 12 tables of historical race data (2020–2026) and 5,525 FIA regulation embeddings; FastF1 supplies live telemetry; Gemini 2.5 Flash (Vertex AI) powers reasoning with exponential backoff retry.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call deterministic tools (SQL queries, telemetry fetchers, RAG lookups, Monte Carlo executor, calendar writer) so outputs are auditable and reproducible.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Natural-language query → Pit Wall Director classifies → Race Engineer sequences specialist(s) → Structured result (telemetry analysis, SQL, FIA ruling, Monte Carlo strategy sim, or 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calendar).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ACB789-878E-094A-532F-A1D427C3A566}"/>
              </a:ext>
            </a:extLst>
          </p:cNvPr>
          <p:cNvSpPr txBox="1"/>
          <p:nvPr/>
        </p:nvSpPr>
        <p:spPr>
          <a:xfrm>
            <a:off x="218661" y="748511"/>
            <a:ext cx="8706678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Two-tier multi-agent design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 specialists + Race Engineer coordinator + Pit Wall Director) with single-responsibility agents and zero-duplicate data fetches via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ToolContext.state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pipeline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5,525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FIA regulation chunks +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steward decisions embedded with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text-embedding-005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indexed via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No other conversational F1 tool offers regulatory precedent lookup.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pit strategy simulator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Agent Engine Sandbox — live strategy simulations with probabilistic outcomes, not just historical lookups.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orchestration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generation (Google Calendar, Apple Calendar, Outlook) and per-session link table fallback.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SQL-aware LLM prompts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injected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 for safe, auditable queries.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telemetry + historical </a:t>
            </a:r>
            <a:r>
              <a:rPr lang="en-IN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FIA regulation RAG + Monte Carlo simulation + steward precedent search — in one conversational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889373-7D43-1B32-4145-22B4B8295B61}"/>
              </a:ext>
            </a:extLst>
          </p:cNvPr>
          <p:cNvSpPr txBox="1"/>
          <p:nvPr/>
        </p:nvSpPr>
        <p:spPr>
          <a:xfrm>
            <a:off x="409646" y="676230"/>
            <a:ext cx="76173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of features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telemetry comparisons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(speed, throttle, brake, gear, RPM) across drivers and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 stop and stint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(lap-by-lap, tyre compound strategy, undercut/overcut detection).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pit strategy simulation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podium/strategy shifts via Agent Engine Sandbox — probabilistic outcomes, not just lookups.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Head-to-head driver comparisons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seasons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coverage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FIA regulation semantic search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fast 4-line steward verdict or full ruling on demand, via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RAG over 5,525 regulation chunks and 664 steward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Calendar scheduling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generation (Google, Apple, Outlook) and per-session link table fallback.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19 + Vite 6 streaming UI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real-time SSE, per-agent attribution, and session resume.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DF20ED-416F-D366-E5B8-41D43996E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73" y="1271250"/>
            <a:ext cx="8821026" cy="3737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36800" y="802953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078F98-4455-68A9-8DF9-6794B265D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87153"/>
            <a:ext cx="7772400" cy="34069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solution:</a:t>
            </a:r>
            <a:endParaRPr sz="1800" b="1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63CA1B-A49C-5109-2A1C-CEA0D6803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36" y="1105231"/>
            <a:ext cx="6173977" cy="40382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36800" y="598749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/Google Services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used in the solution</a:t>
            </a:r>
            <a:br>
              <a:rPr lang="en-GB" sz="10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62763-D836-FC35-2719-4D76657A9AB2}"/>
              </a:ext>
            </a:extLst>
          </p:cNvPr>
          <p:cNvSpPr txBox="1"/>
          <p:nvPr/>
        </p:nvSpPr>
        <p:spPr>
          <a:xfrm>
            <a:off x="436800" y="1364475"/>
            <a:ext cx="791207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Google GenAI ADK + Gemini (Vertex AI):</a:t>
            </a:r>
            <a:r>
              <a:rPr lang="en-IN" dirty="0">
                <a:effectLst/>
              </a:rPr>
              <a:t> Multi-agent orchestration and high-quality reasoning.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>
                <a:effectLst/>
              </a:rPr>
              <a:t>AlloyDB</a:t>
            </a:r>
            <a:r>
              <a:rPr lang="en-IN" b="1" dirty="0">
                <a:effectLst/>
              </a:rPr>
              <a:t> (Postgres-compatible):</a:t>
            </a:r>
            <a:r>
              <a:rPr lang="en-IN" dirty="0">
                <a:effectLst/>
              </a:rPr>
              <a:t> Low-latency historical queries and schema-driven SQL prompts.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FastF1:</a:t>
            </a:r>
            <a:r>
              <a:rPr lang="en-IN" dirty="0">
                <a:effectLst/>
              </a:rPr>
              <a:t> Live telemetry and session data for accurate </a:t>
            </a:r>
            <a:r>
              <a:rPr lang="en-IN" dirty="0" err="1">
                <a:effectLst/>
              </a:rPr>
              <a:t>modeling</a:t>
            </a:r>
            <a:r>
              <a:rPr lang="en-IN" dirty="0">
                <a:effectLst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Cloud Run:</a:t>
            </a:r>
            <a:r>
              <a:rPr lang="en-IN" dirty="0">
                <a:effectLst/>
              </a:rPr>
              <a:t> Serverless container hosting for scalable, cost-effective deployment.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Google Calendar API:</a:t>
            </a:r>
            <a:r>
              <a:rPr lang="en-IN" dirty="0">
                <a:effectLst/>
              </a:rPr>
              <a:t> Direct-write scheduling and fallback link generation. </a:t>
            </a:r>
          </a:p>
          <a:p>
            <a:endParaRPr lang="en-IN" b="1" dirty="0"/>
          </a:p>
          <a:p>
            <a:r>
              <a:rPr lang="en-IN" b="1" dirty="0">
                <a:effectLst/>
              </a:rPr>
              <a:t>Scalability &amp; deployment</a:t>
            </a:r>
            <a:endParaRPr lang="en-IN" dirty="0"/>
          </a:p>
          <a:p>
            <a:r>
              <a:rPr lang="en-IN" dirty="0">
                <a:effectLst/>
              </a:rPr>
              <a:t>Containerized services scale horizontally on Cloud Run; </a:t>
            </a:r>
            <a:r>
              <a:rPr lang="en-IN" dirty="0" err="1">
                <a:effectLst/>
              </a:rPr>
              <a:t>AlloyDB</a:t>
            </a:r>
            <a:r>
              <a:rPr lang="en-IN" dirty="0">
                <a:effectLst/>
              </a:rPr>
              <a:t> handles concurrent analytical queries; ADK agents are stateless LLM orchestrators with tool calls for deterministic I/O.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679525" y="1014075"/>
            <a:ext cx="7840800" cy="3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394E26-1F0E-7D10-0DD8-6373BE1B5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585" y="842694"/>
            <a:ext cx="9158445" cy="34271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9DBB8F-FE3C-58A9-DE87-436AB67D8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6105"/>
            <a:ext cx="8998710" cy="335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36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E90C88-30A9-2D2A-9397-C082CCE89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551"/>
            <a:ext cx="9144000" cy="366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8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Submission deck tq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789</Words>
  <Application>Microsoft Macintosh PowerPoint</Application>
  <PresentationFormat>On-screen Show (16:9)</PresentationFormat>
  <Paragraphs>67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Google Sans</vt:lpstr>
      <vt:lpstr>Times New Roman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anshu sharma</cp:lastModifiedBy>
  <cp:revision>2</cp:revision>
  <dcterms:modified xsi:type="dcterms:W3CDTF">2026-04-29T21:48:48Z</dcterms:modified>
</cp:coreProperties>
</file>